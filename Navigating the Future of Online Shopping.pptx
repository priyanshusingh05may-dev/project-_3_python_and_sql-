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69" r:id="rId4"/>
    <p:sldId id="258" r:id="rId5"/>
    <p:sldId id="270" r:id="rId6"/>
    <p:sldId id="259" r:id="rId7"/>
    <p:sldId id="261" r:id="rId8"/>
    <p:sldId id="262" r:id="rId9"/>
    <p:sldId id="263" r:id="rId10"/>
    <p:sldId id="264" r:id="rId11"/>
    <p:sldId id="265" r:id="rId12"/>
    <p:sldId id="266" r:id="rId13"/>
    <p:sldId id="271" r:id="rId14"/>
    <p:sldId id="272" r:id="rId15"/>
    <p:sldId id="267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riyanshu singh" initials="ps" lastIdx="1" clrIdx="0">
    <p:extLst>
      <p:ext uri="{19B8F6BF-5375-455C-9EA6-DF929625EA0E}">
        <p15:presenceInfo xmlns:p15="http://schemas.microsoft.com/office/powerpoint/2012/main" userId="76ca1ebaed91d2c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2-22T14:03:28.653" idx="1">
    <p:pos x="10" y="10"/>
    <p:text>python code</p:text>
    <p:extLst>
      <p:ext uri="{C676402C-5697-4E1C-873F-D02D1690AC5C}">
        <p15:threadingInfo xmlns:p15="http://schemas.microsoft.com/office/powerpoint/2012/main" timeZoneBias="-330"/>
      </p:ext>
    </p:extLst>
  </p:cm>
</p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FCBDCA8-D37B-4E8E-8DFF-E2DE54ECAFE1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E105D25F-295D-4FD9-94CF-53B5ABBAD0AD}">
      <dgm:prSet/>
      <dgm:spPr/>
      <dgm:t>
        <a:bodyPr/>
        <a:lstStyle/>
        <a:p>
          <a:r>
            <a:rPr lang="en-US" baseline="0" dirty="0"/>
            <a:t>Navigating the Future of Online Shopping</a:t>
          </a:r>
          <a:br>
            <a:rPr lang="en-US" baseline="0" dirty="0"/>
          </a:br>
          <a:r>
            <a:rPr lang="en-IN" baseline="0" dirty="0"/>
            <a:t>E-Commerce Data Analysis</a:t>
          </a:r>
          <a:br>
            <a:rPr lang="en-IN" baseline="0" dirty="0"/>
          </a:br>
          <a:endParaRPr lang="en-IN" dirty="0"/>
        </a:p>
      </dgm:t>
    </dgm:pt>
    <dgm:pt modelId="{B9CAE920-0D69-4D83-A302-6F7AF1C82B01}" type="parTrans" cxnId="{6B550C37-4C7F-44A5-83C7-C525945F541B}">
      <dgm:prSet/>
      <dgm:spPr/>
      <dgm:t>
        <a:bodyPr/>
        <a:lstStyle/>
        <a:p>
          <a:endParaRPr lang="en-IN"/>
        </a:p>
      </dgm:t>
    </dgm:pt>
    <dgm:pt modelId="{81BB151D-B93C-44E7-9555-A4E6E42D7A62}" type="sibTrans" cxnId="{6B550C37-4C7F-44A5-83C7-C525945F541B}">
      <dgm:prSet/>
      <dgm:spPr/>
      <dgm:t>
        <a:bodyPr/>
        <a:lstStyle/>
        <a:p>
          <a:endParaRPr lang="en-IN"/>
        </a:p>
      </dgm:t>
    </dgm:pt>
    <dgm:pt modelId="{578BBF8B-1086-4A90-95DD-EF440C0E443D}" type="pres">
      <dgm:prSet presAssocID="{3FCBDCA8-D37B-4E8E-8DFF-E2DE54ECAFE1}" presName="Name0" presStyleCnt="0">
        <dgm:presLayoutVars>
          <dgm:dir/>
          <dgm:animLvl val="lvl"/>
          <dgm:resizeHandles val="exact"/>
        </dgm:presLayoutVars>
      </dgm:prSet>
      <dgm:spPr/>
    </dgm:pt>
    <dgm:pt modelId="{C943E0E2-B234-4A6D-A7DB-43F592D67D95}" type="pres">
      <dgm:prSet presAssocID="{E105D25F-295D-4FD9-94CF-53B5ABBAD0AD}" presName="linNode" presStyleCnt="0"/>
      <dgm:spPr/>
    </dgm:pt>
    <dgm:pt modelId="{28860336-9EBC-40FB-8E0D-4EC9B760C684}" type="pres">
      <dgm:prSet presAssocID="{E105D25F-295D-4FD9-94CF-53B5ABBAD0AD}" presName="parentText" presStyleLbl="node1" presStyleIdx="0" presStyleCnt="1" custScaleX="152500">
        <dgm:presLayoutVars>
          <dgm:chMax val="1"/>
          <dgm:bulletEnabled val="1"/>
        </dgm:presLayoutVars>
      </dgm:prSet>
      <dgm:spPr/>
    </dgm:pt>
  </dgm:ptLst>
  <dgm:cxnLst>
    <dgm:cxn modelId="{F36A8F19-0AF6-46EA-81E6-0A7B479F1846}" type="presOf" srcId="{3FCBDCA8-D37B-4E8E-8DFF-E2DE54ECAFE1}" destId="{578BBF8B-1086-4A90-95DD-EF440C0E443D}" srcOrd="0" destOrd="0" presId="urn:microsoft.com/office/officeart/2005/8/layout/vList5"/>
    <dgm:cxn modelId="{6B550C37-4C7F-44A5-83C7-C525945F541B}" srcId="{3FCBDCA8-D37B-4E8E-8DFF-E2DE54ECAFE1}" destId="{E105D25F-295D-4FD9-94CF-53B5ABBAD0AD}" srcOrd="0" destOrd="0" parTransId="{B9CAE920-0D69-4D83-A302-6F7AF1C82B01}" sibTransId="{81BB151D-B93C-44E7-9555-A4E6E42D7A62}"/>
    <dgm:cxn modelId="{3AEE66BC-9638-4B42-8746-2070AB081DE7}" type="presOf" srcId="{E105D25F-295D-4FD9-94CF-53B5ABBAD0AD}" destId="{28860336-9EBC-40FB-8E0D-4EC9B760C684}" srcOrd="0" destOrd="0" presId="urn:microsoft.com/office/officeart/2005/8/layout/vList5"/>
    <dgm:cxn modelId="{31BB0B0D-7B84-4566-84FC-1FB4776AC888}" type="presParOf" srcId="{578BBF8B-1086-4A90-95DD-EF440C0E443D}" destId="{C943E0E2-B234-4A6D-A7DB-43F592D67D95}" srcOrd="0" destOrd="0" presId="urn:microsoft.com/office/officeart/2005/8/layout/vList5"/>
    <dgm:cxn modelId="{B428578C-6DB5-4CF0-8AEF-1AC7C0189967}" type="presParOf" srcId="{C943E0E2-B234-4A6D-A7DB-43F592D67D95}" destId="{28860336-9EBC-40FB-8E0D-4EC9B760C684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5950842-9C88-47A4-B306-35FD8D00D412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13E1355B-0B44-43DC-AD9B-C5A9E40BF8AB}">
      <dgm:prSet/>
      <dgm:spPr/>
      <dgm:t>
        <a:bodyPr anchor="ctr"/>
        <a:lstStyle/>
        <a:p>
          <a:pPr algn="ctr"/>
          <a:r>
            <a:rPr lang="en-US" baseline="0" dirty="0"/>
            <a:t>A Comparative Approach using SQL and Python</a:t>
          </a:r>
          <a:endParaRPr lang="en-IN" dirty="0"/>
        </a:p>
      </dgm:t>
    </dgm:pt>
    <dgm:pt modelId="{9F8365B4-C492-4672-99EE-22741C786721}" type="parTrans" cxnId="{0F403CC3-27F2-4B28-B469-D2890991F9A1}">
      <dgm:prSet/>
      <dgm:spPr/>
      <dgm:t>
        <a:bodyPr/>
        <a:lstStyle/>
        <a:p>
          <a:endParaRPr lang="en-IN"/>
        </a:p>
      </dgm:t>
    </dgm:pt>
    <dgm:pt modelId="{BD784F72-6CB9-41D5-8052-96007FC12945}" type="sibTrans" cxnId="{0F403CC3-27F2-4B28-B469-D2890991F9A1}">
      <dgm:prSet/>
      <dgm:spPr/>
      <dgm:t>
        <a:bodyPr/>
        <a:lstStyle/>
        <a:p>
          <a:endParaRPr lang="en-IN"/>
        </a:p>
      </dgm:t>
    </dgm:pt>
    <dgm:pt modelId="{B0EADF8F-51A4-4F90-98CA-F466BA09AB9C}" type="pres">
      <dgm:prSet presAssocID="{45950842-9C88-47A4-B306-35FD8D00D412}" presName="linear" presStyleCnt="0">
        <dgm:presLayoutVars>
          <dgm:animLvl val="lvl"/>
          <dgm:resizeHandles val="exact"/>
        </dgm:presLayoutVars>
      </dgm:prSet>
      <dgm:spPr/>
    </dgm:pt>
    <dgm:pt modelId="{CCEB0238-855D-4937-BA09-AB071CCF4C19}" type="pres">
      <dgm:prSet presAssocID="{13E1355B-0B44-43DC-AD9B-C5A9E40BF8AB}" presName="parentText" presStyleLbl="node1" presStyleIdx="0" presStyleCnt="1" custScaleY="105802" custLinFactNeighborX="-42194" custLinFactNeighborY="3280">
        <dgm:presLayoutVars>
          <dgm:chMax val="0"/>
          <dgm:bulletEnabled val="1"/>
        </dgm:presLayoutVars>
      </dgm:prSet>
      <dgm:spPr/>
    </dgm:pt>
  </dgm:ptLst>
  <dgm:cxnLst>
    <dgm:cxn modelId="{2F1A3140-6B05-4F06-9FF3-67EE87880F15}" type="presOf" srcId="{13E1355B-0B44-43DC-AD9B-C5A9E40BF8AB}" destId="{CCEB0238-855D-4937-BA09-AB071CCF4C19}" srcOrd="0" destOrd="0" presId="urn:microsoft.com/office/officeart/2005/8/layout/vList2"/>
    <dgm:cxn modelId="{0F403CC3-27F2-4B28-B469-D2890991F9A1}" srcId="{45950842-9C88-47A4-B306-35FD8D00D412}" destId="{13E1355B-0B44-43DC-AD9B-C5A9E40BF8AB}" srcOrd="0" destOrd="0" parTransId="{9F8365B4-C492-4672-99EE-22741C786721}" sibTransId="{BD784F72-6CB9-41D5-8052-96007FC12945}"/>
    <dgm:cxn modelId="{130366FC-ECF0-4EA6-A31A-4BE4D4EFC74B}" type="presOf" srcId="{45950842-9C88-47A4-B306-35FD8D00D412}" destId="{B0EADF8F-51A4-4F90-98CA-F466BA09AB9C}" srcOrd="0" destOrd="0" presId="urn:microsoft.com/office/officeart/2005/8/layout/vList2"/>
    <dgm:cxn modelId="{028B93A9-F1C1-447C-9FC6-D8DA1EFF353F}" type="presParOf" srcId="{B0EADF8F-51A4-4F90-98CA-F466BA09AB9C}" destId="{CCEB0238-855D-4937-BA09-AB071CCF4C19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860336-9EBC-40FB-8E0D-4EC9B760C684}">
      <dsp:nvSpPr>
        <dsp:cNvPr id="0" name=""/>
        <dsp:cNvSpPr/>
      </dsp:nvSpPr>
      <dsp:spPr>
        <a:xfrm>
          <a:off x="1959589" y="0"/>
          <a:ext cx="4770796" cy="25092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64770" rIns="129540" bIns="6477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baseline="0" dirty="0"/>
            <a:t>Navigating the Future of Online Shopping</a:t>
          </a:r>
          <a:br>
            <a:rPr lang="en-US" sz="3400" kern="1200" baseline="0" dirty="0"/>
          </a:br>
          <a:r>
            <a:rPr lang="en-IN" sz="3400" kern="1200" baseline="0" dirty="0"/>
            <a:t>E-Commerce Data Analysis</a:t>
          </a:r>
          <a:br>
            <a:rPr lang="en-IN" sz="3400" kern="1200" baseline="0" dirty="0"/>
          </a:br>
          <a:endParaRPr lang="en-IN" sz="3400" kern="1200" dirty="0"/>
        </a:p>
      </dsp:txBody>
      <dsp:txXfrm>
        <a:off x="2082079" y="122490"/>
        <a:ext cx="4525816" cy="226423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EB0238-855D-4937-BA09-AB071CCF4C19}">
      <dsp:nvSpPr>
        <dsp:cNvPr id="0" name=""/>
        <dsp:cNvSpPr/>
      </dsp:nvSpPr>
      <dsp:spPr>
        <a:xfrm>
          <a:off x="0" y="103895"/>
          <a:ext cx="8637072" cy="82071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baseline="0" dirty="0"/>
            <a:t>A Comparative Approach using SQL and Python</a:t>
          </a:r>
          <a:endParaRPr lang="en-IN" sz="3400" kern="1200" dirty="0"/>
        </a:p>
      </dsp:txBody>
      <dsp:txXfrm>
        <a:off x="40064" y="143959"/>
        <a:ext cx="8556944" cy="74058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7580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1086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5880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6135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28929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4423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0454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4792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2339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0994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0743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821274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26048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86706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5630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88373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8033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A1B42C3-4733-43BB-B966-B33844BF392A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FB677527-BE96-4CA1-8F3D-C3C0F50BD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798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5" Type="http://schemas.openxmlformats.org/officeDocument/2006/relationships/comments" Target="../comments/comment1.xml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03C1D68B-CFEE-472C-9359-9D2F7E49FA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58364104"/>
              </p:ext>
            </p:extLst>
          </p:nvPr>
        </p:nvGraphicFramePr>
        <p:xfrm>
          <a:off x="1751012" y="1300785"/>
          <a:ext cx="8689976" cy="2509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E5BBC50C-67AA-48CD-B3B9-26E5F8DB8E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4364495"/>
              </p:ext>
            </p:extLst>
          </p:nvPr>
        </p:nvGraphicFramePr>
        <p:xfrm>
          <a:off x="4008041" y="3782995"/>
          <a:ext cx="8637072" cy="977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5441279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D073A2-AFA1-41B4-A031-31DBD9D7539C}"/>
              </a:ext>
            </a:extLst>
          </p:cNvPr>
          <p:cNvSpPr txBox="1"/>
          <p:nvPr/>
        </p:nvSpPr>
        <p:spPr>
          <a:xfrm>
            <a:off x="-185530" y="172278"/>
            <a:ext cx="12377530" cy="2328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6075" algn="ctr">
              <a:lnSpc>
                <a:spcPct val="115000"/>
              </a:lnSpc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effectLst/>
                <a:latin typeface="Archivo"/>
                <a:ea typeface="Archivo"/>
                <a:cs typeface="Archivo"/>
              </a:rPr>
              <a:t>BASIC PROBLEMS</a:t>
            </a:r>
          </a:p>
          <a:p>
            <a:pPr marL="346075" algn="ctr">
              <a:lnSpc>
                <a:spcPct val="115000"/>
              </a:lnSpc>
            </a:pPr>
            <a:r>
              <a:rPr lang="en-IN" sz="1800" b="1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OBJECTIVE: EXTRACT FUNDAMENTAL INSIGHTS FROM THE DATASET</a:t>
            </a:r>
          </a:p>
          <a:p>
            <a:pPr marL="346075" algn="ctr">
              <a:lnSpc>
                <a:spcPct val="115000"/>
              </a:lnSpc>
            </a:pPr>
            <a:r>
              <a:rPr lang="en-IN" sz="1800" b="1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LIST ALL UNIQUE CITIES WHERE CUSTOMERS ARE LOCATED</a:t>
            </a:r>
          </a:p>
          <a:p>
            <a:pPr marL="346075">
              <a:lnSpc>
                <a:spcPct val="115000"/>
              </a:lnSpc>
            </a:pPr>
            <a:r>
              <a:rPr lang="en-IN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ea typeface="Archivo"/>
                <a:cs typeface="Archivo"/>
              </a:rPr>
              <a:t>SQL QUERY                                                                                                                              PYTHON CODE</a:t>
            </a:r>
          </a:p>
          <a:p>
            <a:pPr marL="346075">
              <a:lnSpc>
                <a:spcPct val="115000"/>
              </a:lnSpc>
            </a:pPr>
            <a:endParaRPr lang="en-IN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ea typeface="Archivo"/>
              <a:cs typeface="Archivo"/>
            </a:endParaRPr>
          </a:p>
          <a:p>
            <a:pPr marL="346075">
              <a:lnSpc>
                <a:spcPct val="115000"/>
              </a:lnSpc>
            </a:pPr>
            <a:endParaRPr lang="en-IN" sz="2800" b="1" dirty="0">
              <a:solidFill>
                <a:schemeClr val="accent6">
                  <a:lumMod val="75000"/>
                </a:schemeClr>
              </a:solidFill>
              <a:effectLst/>
              <a:latin typeface="Archivo"/>
              <a:ea typeface="Archivo"/>
              <a:cs typeface="Archiv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29B64-16C8-4619-8EF8-824907E59D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1051" y="1828471"/>
            <a:ext cx="5530706" cy="21293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DC1D4F-BCAC-476D-A68B-8BB9D5DEB9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25" y="1828472"/>
            <a:ext cx="4590395" cy="18154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D80BF91-2B82-440A-B75C-9B1D19061D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421" y="3916907"/>
            <a:ext cx="3398292" cy="2105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491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FC242-B8DF-4896-97A7-9AD3727D4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772961"/>
          </a:xfrm>
        </p:spPr>
        <p:txBody>
          <a:bodyPr>
            <a:normAutofit fontScale="90000"/>
          </a:bodyPr>
          <a:lstStyle/>
          <a:p>
            <a:pPr algn="l"/>
            <a:r>
              <a:rPr lang="en-IN" sz="3600" b="1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Count the number of orders placed in 2017</a:t>
            </a:r>
            <a:br>
              <a:rPr lang="en-IN" sz="3600" b="1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r>
              <a:rPr lang="en-IN" sz="27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</a:rPr>
              <a:t>SQL QUERY                                                                         python code                                                                                                                            </a:t>
            </a:r>
            <a:br>
              <a:rPr lang="en-IN" sz="3600" b="1" dirty="0">
                <a:solidFill>
                  <a:schemeClr val="accent6">
                    <a:lumMod val="75000"/>
                  </a:schemeClr>
                </a:solidFill>
              </a:rPr>
            </a:b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704570-BBE7-4F80-841A-4354DE7C88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23833"/>
            <a:ext cx="4367284" cy="191068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4FC1A3F-9D59-4323-A962-94FF317F72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5" y="3660325"/>
            <a:ext cx="3357350" cy="9116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2BF778-AA46-42DF-B6B4-90DD0F1515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87" y="1422124"/>
            <a:ext cx="6687483" cy="1880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584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77520-8607-434C-9B5B-AAB49F98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2314" y="106019"/>
            <a:ext cx="10364451" cy="914400"/>
          </a:xfrm>
        </p:spPr>
        <p:txBody>
          <a:bodyPr anchor="b">
            <a:normAutofit/>
          </a:bodyPr>
          <a:lstStyle/>
          <a:p>
            <a:pPr algn="l"/>
            <a:r>
              <a:rPr lang="en-IN" sz="2000" dirty="0">
                <a:solidFill>
                  <a:schemeClr val="bg2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Find the total sales per category</a:t>
            </a:r>
            <a:br>
              <a:rPr lang="en-IN" sz="2000" dirty="0">
                <a:solidFill>
                  <a:schemeClr val="bg2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r>
              <a:rPr lang="en-IN" sz="2000" dirty="0" err="1">
                <a:solidFill>
                  <a:schemeClr val="bg2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sQL</a:t>
            </a:r>
            <a:r>
              <a:rPr lang="en-IN" sz="2000" dirty="0">
                <a:solidFill>
                  <a:schemeClr val="bg2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query                                                                     python code</a:t>
            </a:r>
            <a:br>
              <a:rPr lang="en-IN" sz="2000" dirty="0">
                <a:solidFill>
                  <a:schemeClr val="bg2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endParaRPr lang="en-IN" sz="2000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EA685-5397-4CDF-88BF-0299802998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901150"/>
            <a:ext cx="4611757" cy="26239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FB7CF2-CFE9-48C5-9110-C6125A1CF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5096" y="658043"/>
            <a:ext cx="6852321" cy="333086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BD9B0C1-5D0D-4DC4-8848-5C183FF1CB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02158"/>
            <a:ext cx="4201483" cy="2690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445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25FCDD-52D6-4DD7-9EC6-BDE4A4610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" y="1"/>
            <a:ext cx="11754677" cy="1205948"/>
          </a:xfrm>
        </p:spPr>
        <p:txBody>
          <a:bodyPr/>
          <a:lstStyle/>
          <a:p>
            <a:r>
              <a:rPr lang="en-IN" sz="2000" b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Calculate the percentage of orders that were paid in </a:t>
            </a:r>
            <a:r>
              <a:rPr lang="en-IN" sz="2000" b="1" dirty="0" err="1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installments</a:t>
            </a:r>
            <a:r>
              <a:rPr lang="en-IN" sz="1800" dirty="0">
                <a:solidFill>
                  <a:srgbClr val="26262F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. </a:t>
            </a:r>
            <a:br>
              <a:rPr lang="en-IN" sz="1800" dirty="0">
                <a:solidFill>
                  <a:srgbClr val="26262F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2EB4DB-3628-4129-AFF5-1C268B8F60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67409"/>
            <a:ext cx="5512904" cy="27299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E5900E-9176-42C9-97D9-31C2383B3B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06638"/>
            <a:ext cx="4280452" cy="191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045765-57C0-4A89-9737-D3F95F8003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4853" y="1477050"/>
            <a:ext cx="6997148" cy="2405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682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6DCCF2-30A6-4EAD-96ED-1F2C22363181}"/>
              </a:ext>
            </a:extLst>
          </p:cNvPr>
          <p:cNvSpPr txBox="1"/>
          <p:nvPr/>
        </p:nvSpPr>
        <p:spPr>
          <a:xfrm>
            <a:off x="0" y="186395"/>
            <a:ext cx="1200647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>
                <a:solidFill>
                  <a:schemeClr val="bg2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COUNT THE NUMBER OF CUSTOMERS FROM EACH STATE</a:t>
            </a:r>
          </a:p>
          <a:p>
            <a:r>
              <a:rPr lang="en-IN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SQL QUERY                                                                                                                                PYTHON CODE</a:t>
            </a:r>
            <a:endParaRPr lang="en-IN" b="1" dirty="0">
              <a:solidFill>
                <a:schemeClr val="bg2">
                  <a:lumMod val="75000"/>
                </a:schemeClr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/>
            <a:endParaRPr lang="en-IN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B15DB8-684F-44BF-A7B0-D6E090D54D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32" y="1455578"/>
            <a:ext cx="3905795" cy="3305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EF1774D-FF3B-4B1C-A254-F1A3619EB8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32" y="4962260"/>
            <a:ext cx="3905795" cy="18957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570752-103F-4A86-9A17-537541C50F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203" y="1455578"/>
            <a:ext cx="4991797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516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A2B05-3E19-423F-B1D2-395DF4A2D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8"/>
            <a:ext cx="10364451" cy="534422"/>
          </a:xfrm>
        </p:spPr>
        <p:txBody>
          <a:bodyPr>
            <a:normAutofit fontScale="90000"/>
          </a:bodyPr>
          <a:lstStyle/>
          <a:p>
            <a:r>
              <a:rPr lang="en-IN" sz="2700" b="1" cap="none" dirty="0">
                <a:solidFill>
                  <a:schemeClr val="bg2">
                    <a:lumMod val="75000"/>
                  </a:schemeClr>
                </a:solidFill>
                <a:effectLst/>
                <a:latin typeface="Archivo"/>
                <a:ea typeface="Archivo"/>
                <a:cs typeface="Archivo"/>
              </a:rPr>
              <a:t>INTERMEDIATE PROBLEMS</a:t>
            </a:r>
            <a:br>
              <a:rPr lang="en-IN" sz="1800" b="1" cap="none" dirty="0">
                <a:solidFill>
                  <a:srgbClr val="FF7F50"/>
                </a:solidFill>
                <a:effectLst/>
                <a:latin typeface="Archivo"/>
                <a:ea typeface="Archivo"/>
                <a:cs typeface="Archivo"/>
              </a:rPr>
            </a:br>
            <a:r>
              <a:rPr lang="en-IN" sz="1600" b="1" dirty="0">
                <a:solidFill>
                  <a:schemeClr val="bg2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Objective: Dive deeper into sales and order trends</a:t>
            </a:r>
            <a:br>
              <a:rPr lang="en-IN" sz="1600" b="1" dirty="0">
                <a:solidFill>
                  <a:schemeClr val="bg2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r>
              <a:rPr lang="en-IN" sz="1800" b="1" dirty="0">
                <a:solidFill>
                  <a:schemeClr val="bg2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Find the average number of products per order, grouped by customer city</a:t>
            </a:r>
            <a:br>
              <a:rPr lang="en-IN" sz="1800" b="1" dirty="0">
                <a:solidFill>
                  <a:schemeClr val="bg2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br>
              <a:rPr lang="en-IN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br>
              <a:rPr lang="en-IN" sz="1600" b="1" dirty="0">
                <a:solidFill>
                  <a:schemeClr val="bg2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endParaRPr lang="en-IN" sz="1600" b="1" cap="none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FB3199-EB2B-43C3-9E33-DC41DECE1F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69042"/>
            <a:ext cx="5420481" cy="22958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24CF7FC-4DC7-4CCC-B44B-E04F298EDF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75724"/>
            <a:ext cx="5420481" cy="20957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EC7CB4-549E-47D3-89D3-62BECD9920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1854233"/>
            <a:ext cx="6096000" cy="3671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737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2C2EA-489A-4BC9-B027-692E5626D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8"/>
            <a:ext cx="10364451" cy="1422318"/>
          </a:xfrm>
        </p:spPr>
        <p:txBody>
          <a:bodyPr>
            <a:normAutofit/>
          </a:bodyPr>
          <a:lstStyle/>
          <a:p>
            <a:r>
              <a:rPr lang="en-IN" sz="1800" b="1" dirty="0">
                <a:solidFill>
                  <a:schemeClr val="bg2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Calculate the percentage of total revenue contributed by each product category. </a:t>
            </a:r>
            <a:br>
              <a:rPr lang="en-IN" sz="1800" b="1" dirty="0">
                <a:solidFill>
                  <a:schemeClr val="bg2">
                    <a:lumMod val="75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endParaRPr lang="en-IN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7834467-2FF4-46FA-A5DD-EA18E6610C83}"/>
              </a:ext>
            </a:extLst>
          </p:cNvPr>
          <p:cNvSpPr txBox="1">
            <a:spLocks/>
          </p:cNvSpPr>
          <p:nvPr/>
        </p:nvSpPr>
        <p:spPr>
          <a:xfrm>
            <a:off x="1298728" y="2523418"/>
            <a:ext cx="4873474" cy="35893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85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None/>
              <a:defRPr sz="2600" b="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2000" b="1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b="1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600" b="1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600" b="1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600" b="1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600" b="1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600" b="1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600" b="1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0380C6-70D6-47F2-9C80-9D75D42005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57" y="1346778"/>
            <a:ext cx="3277057" cy="260068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4851DB0-B6E4-4689-BCCF-1F90B3794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39" y="4208866"/>
            <a:ext cx="3368531" cy="231120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6A94F67-EF28-433C-A5CB-3CB846C7A1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3311" y="1448180"/>
            <a:ext cx="4877481" cy="3600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275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9E41F-467A-4680-967A-DF0F0FA6C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8"/>
            <a:ext cx="10364451" cy="799466"/>
          </a:xfrm>
        </p:spPr>
        <p:txBody>
          <a:bodyPr/>
          <a:lstStyle/>
          <a:p>
            <a:r>
              <a:rPr lang="en-IN" sz="1800" b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Identify the correlation between product price and the number of times a product has been purchased</a:t>
            </a:r>
            <a:endParaRPr lang="en-IN" b="1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E459C7-E733-4896-9DE9-BF5852B2D8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710" y="1338470"/>
            <a:ext cx="3878951" cy="20275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C688F81-EFD9-45CB-8EE5-81080C5A1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673403"/>
            <a:ext cx="4001058" cy="25021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CD3908-A323-423F-86B7-F148B4F466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020" y="1686910"/>
            <a:ext cx="7316221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887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EF621-56F8-425D-82F3-F686FDC9D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1800" dirty="0">
                <a:solidFill>
                  <a:srgbClr val="26262F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. </a:t>
            </a:r>
            <a:r>
              <a:rPr lang="en-IN" sz="1800" b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Calculate the total revenue generated by each seller, and rank them by revenue.</a:t>
            </a:r>
            <a:br>
              <a:rPr lang="en-IN" sz="1800" b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endParaRPr lang="en-IN" b="1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76A2F8-0ABB-44EC-B073-3379618FF1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27683"/>
            <a:ext cx="4734586" cy="16913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842165-443A-424C-BD45-6D1D130C0B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623929"/>
            <a:ext cx="4086795" cy="25913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F3CC27-2992-4774-9481-1CCBE2709F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9390" y="1715107"/>
            <a:ext cx="6211167" cy="3599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002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0E69D-B7D9-4BB7-830F-AD497C305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IN" sz="1800" b="1" dirty="0">
                <a:solidFill>
                  <a:schemeClr val="tx2">
                    <a:lumMod val="50000"/>
                  </a:schemeClr>
                </a:solidFill>
                <a:effectLst/>
                <a:latin typeface="Archivo"/>
                <a:ea typeface="Archivo"/>
                <a:cs typeface="Archivo"/>
              </a:rPr>
              <a:t>ADVANCED </a:t>
            </a:r>
            <a:r>
              <a:rPr lang="en-IN" sz="18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Archivo"/>
                <a:cs typeface="Archivo"/>
              </a:rPr>
              <a:t>PROBLEMS</a:t>
            </a:r>
            <a:br>
              <a:rPr lang="en-IN" sz="18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Archivo"/>
                <a:cs typeface="Archivo"/>
              </a:rPr>
            </a:br>
            <a:r>
              <a:rPr lang="en-IN" sz="1800" b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Objective: Generate strategic and customer-centric insights</a:t>
            </a:r>
            <a:br>
              <a:rPr lang="en-IN" sz="1800" b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r>
              <a:rPr lang="en-IN" sz="1600" b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. Calculate the moving average of order values for each customer over their order history</a:t>
            </a:r>
            <a:r>
              <a:rPr lang="en-IN" sz="1800" dirty="0">
                <a:solidFill>
                  <a:srgbClr val="26262F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. </a:t>
            </a:r>
            <a:endParaRPr lang="en-IN" b="1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9A8A83-D75D-4B4D-89F7-938CABF2E2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2296"/>
            <a:ext cx="5777948" cy="18950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4BCFD9F-4A0B-474C-BC80-FF780F7AE0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44462"/>
            <a:ext cx="5689905" cy="23298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F930A2-2FC0-44C7-AC21-BEF7BF5BD2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0016" y="2153805"/>
            <a:ext cx="6221984" cy="4498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699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F299-B61F-477E-8EFE-47A7321DB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0"/>
            <a:ext cx="10364451" cy="861391"/>
          </a:xfrm>
        </p:spPr>
        <p:txBody>
          <a:bodyPr>
            <a:normAutofit/>
          </a:bodyPr>
          <a:lstStyle/>
          <a:p>
            <a:r>
              <a:rPr lang="en-IN" sz="2000" b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. Calculate the cumulative sales per month for each year</a:t>
            </a:r>
            <a:endParaRPr lang="en-IN" sz="2000" b="1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34DC9B-B475-408A-9697-9BF31167D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26" y="4272439"/>
            <a:ext cx="5128591" cy="23801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E804E8-1F61-4AD7-9F1C-95BD373968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5843" y="1283966"/>
            <a:ext cx="5526157" cy="42289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A169ED1-3844-4E4D-B160-0A9F910E65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0904"/>
            <a:ext cx="6487430" cy="3034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2848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39539A-16C4-477D-966E-72AD91BE0EDA}"/>
              </a:ext>
            </a:extLst>
          </p:cNvPr>
          <p:cNvSpPr txBox="1"/>
          <p:nvPr/>
        </p:nvSpPr>
        <p:spPr>
          <a:xfrm>
            <a:off x="2729947" y="173142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. Calculate the year-over-year growth rate of total sales</a:t>
            </a:r>
            <a:endParaRPr lang="en-IN" sz="2400" b="1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E10BA5-D7CC-4776-AF0E-5611DEE03A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42003"/>
            <a:ext cx="5327373" cy="33902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3A8179-B3E9-4411-81E9-79D38E68E6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25009"/>
            <a:ext cx="5102087" cy="18553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349E71-E09A-4C5C-8171-C22E4053EF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4305" y="1249016"/>
            <a:ext cx="6817695" cy="2981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036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7C91EF-0233-4669-9E7A-CCE978639689}"/>
              </a:ext>
            </a:extLst>
          </p:cNvPr>
          <p:cNvSpPr txBox="1"/>
          <p:nvPr/>
        </p:nvSpPr>
        <p:spPr>
          <a:xfrm>
            <a:off x="0" y="147935"/>
            <a:ext cx="12191999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000" b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IDENTIFY THE TOP 3 CUSTOMERS WHO SPENT THE MOST MONEY IN EACH YEAR.</a:t>
            </a:r>
          </a:p>
          <a:p>
            <a:pPr algn="ctr"/>
            <a:r>
              <a:rPr lang="en-IN" sz="2000" b="1" dirty="0" err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Sql</a:t>
            </a:r>
            <a:r>
              <a:rPr lang="en-IN" sz="2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query</a:t>
            </a:r>
            <a:endParaRPr lang="en-IN" sz="2000" b="1" dirty="0">
              <a:solidFill>
                <a:schemeClr val="tx2">
                  <a:lumMod val="50000"/>
                </a:schemeClr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/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D2EFC56-F893-4515-BD21-499A84DAA1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3106"/>
            <a:ext cx="6347791" cy="29292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273BE6-6360-40F3-A761-10556E466D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860" y="1113183"/>
            <a:ext cx="4187687" cy="25352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DD624B8-CE86-4A83-AA45-C4350C0FF4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527" y="4371628"/>
            <a:ext cx="8735644" cy="248637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8E9B8EA9-AA20-4B6F-9353-97FE718D253D}"/>
              </a:ext>
            </a:extLst>
          </p:cNvPr>
          <p:cNvSpPr/>
          <p:nvPr/>
        </p:nvSpPr>
        <p:spPr>
          <a:xfrm>
            <a:off x="3750366" y="4041912"/>
            <a:ext cx="3180521" cy="33130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2">
                    <a:lumMod val="50000"/>
                  </a:schemeClr>
                </a:solidFill>
              </a:rPr>
              <a:t>Python code</a:t>
            </a:r>
            <a:endParaRPr lang="en-IN" sz="2000" b="1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3242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FC724-4FA7-4EEA-8DE7-5C745DCA4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1"/>
            <a:ext cx="10364451" cy="768625"/>
          </a:xfrm>
        </p:spPr>
        <p:txBody>
          <a:bodyPr/>
          <a:lstStyle/>
          <a:p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visualisations</a:t>
            </a:r>
            <a:endParaRPr lang="en-IN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2A5DEC-24D7-4F67-BE49-7A26E5BEF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83110"/>
            <a:ext cx="5340626" cy="3186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1032D55-F7BF-489C-BB9A-1691D6AA5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4783" y="724729"/>
            <a:ext cx="5792650" cy="3118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E57F1A42-7CF4-44D9-915B-1FC19F240E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896139"/>
            <a:ext cx="5406887" cy="2961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E02ACC8-7176-44B0-99D1-6CAEAFD8EA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4783" y="3975652"/>
            <a:ext cx="5768629" cy="2882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5816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A53AEF94-369C-4F57-A0BE-599EC62502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5605670" cy="3220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927FB22A-5E79-44AB-A9EB-7ECA90C21C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4539" y="0"/>
            <a:ext cx="5857461" cy="3220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D759A131-77D6-43A7-B5EB-7E3D25919A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3273287"/>
            <a:ext cx="5936974" cy="3723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7237774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Droplet</Template>
  <TotalTime>863</TotalTime>
  <Words>230</Words>
  <Application>Microsoft Office PowerPoint</Application>
  <PresentationFormat>Widescreen</PresentationFormat>
  <Paragraphs>22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Archivo</vt:lpstr>
      <vt:lpstr>Arial</vt:lpstr>
      <vt:lpstr>Tw Cen MT</vt:lpstr>
      <vt:lpstr>Droplet</vt:lpstr>
      <vt:lpstr>PowerPoint Presentation</vt:lpstr>
      <vt:lpstr>PowerPoint Presentation</vt:lpstr>
      <vt:lpstr>Count the number of orders placed in 2017 SQL QUERY                                                                         python code                                                                                                                             </vt:lpstr>
      <vt:lpstr>Find the total sales per category sQL query                                                                     python code </vt:lpstr>
      <vt:lpstr>Calculate the percentage of orders that were paid in installments.  </vt:lpstr>
      <vt:lpstr>PowerPoint Presentation</vt:lpstr>
      <vt:lpstr>INTERMEDIATE PROBLEMS Objective: Dive deeper into sales and order trends Find the average number of products per order, grouped by customer city   </vt:lpstr>
      <vt:lpstr>Calculate the percentage of total revenue contributed by each product category.  </vt:lpstr>
      <vt:lpstr>Identify the correlation between product price and the number of times a product has been purchased</vt:lpstr>
      <vt:lpstr>. Calculate the total revenue generated by each seller, and rank them by revenue. </vt:lpstr>
      <vt:lpstr>ADVANCED PROBLEMS Objective: Generate strategic and customer-centric insights . Calculate the moving average of order values for each customer over their order history. </vt:lpstr>
      <vt:lpstr>. Calculate the cumulative sales per month for each year</vt:lpstr>
      <vt:lpstr>PowerPoint Presentation</vt:lpstr>
      <vt:lpstr>PowerPoint Presentation</vt:lpstr>
      <vt:lpstr>visualisations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Navigating the Future of Online Shopping E-Commerce Data Analysis</dc:title>
  <dc:creator>priyanshu singh</dc:creator>
  <cp:lastModifiedBy>priyanshu singh</cp:lastModifiedBy>
  <cp:revision>25</cp:revision>
  <dcterms:created xsi:type="dcterms:W3CDTF">2026-02-19T16:00:04Z</dcterms:created>
  <dcterms:modified xsi:type="dcterms:W3CDTF">2026-02-22T08:38:21Z</dcterms:modified>
</cp:coreProperties>
</file>