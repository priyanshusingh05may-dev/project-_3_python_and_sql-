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58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086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80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3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89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42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45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79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33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99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743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2127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604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670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63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837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03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A1B42C3-4733-43BB-B966-B33844BF392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B677527-BE96-4CA1-8F3D-C3C0F50BD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98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637A-8A85-4492-80DD-AD1B2C8D0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Navigating the Future of Online Shopping</a:t>
            </a:r>
            <a:br>
              <a:rPr lang="en-US" sz="3200" dirty="0"/>
            </a:br>
            <a:r>
              <a:rPr lang="en-IN" sz="2800" dirty="0">
                <a:solidFill>
                  <a:schemeClr val="accent6">
                    <a:lumMod val="75000"/>
                  </a:schemeClr>
                </a:solidFill>
              </a:rPr>
              <a:t>E-Commerce Data Analysis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9089-87B8-4446-A623-66573571B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8041" y="3782995"/>
            <a:ext cx="8637072" cy="977621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Comparative Approach using SQL and Python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127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D073A2-AFA1-41B4-A031-31DBD9D7539C}"/>
              </a:ext>
            </a:extLst>
          </p:cNvPr>
          <p:cNvSpPr txBox="1"/>
          <p:nvPr/>
        </p:nvSpPr>
        <p:spPr>
          <a:xfrm>
            <a:off x="-185530" y="172278"/>
            <a:ext cx="12377530" cy="2328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6075" algn="ctr">
              <a:lnSpc>
                <a:spcPct val="115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Archivo"/>
                <a:ea typeface="Archivo"/>
                <a:cs typeface="Archivo"/>
              </a:rPr>
              <a:t>BASIC PROBLEMS</a:t>
            </a:r>
          </a:p>
          <a:p>
            <a:pPr marL="346075" algn="ctr">
              <a:lnSpc>
                <a:spcPct val="115000"/>
              </a:lnSpc>
            </a:pP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OBJECTIVE: EXTRACT FUNDAMENTAL INSIGHTS FROM THE DATASET</a:t>
            </a:r>
          </a:p>
          <a:p>
            <a:pPr marL="346075" algn="ctr">
              <a:lnSpc>
                <a:spcPct val="115000"/>
              </a:lnSpc>
            </a:pP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LIST ALL UNIQUE CITIES WHERE CUSTOMERS ARE LOCATED</a:t>
            </a:r>
          </a:p>
          <a:p>
            <a:pPr marL="346075">
              <a:lnSpc>
                <a:spcPct val="115000"/>
              </a:lnSpc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Archivo"/>
                <a:cs typeface="Archivo"/>
              </a:rPr>
              <a:t>SQL QUERY                                                                                                                              PYTHON CODE</a:t>
            </a:r>
          </a:p>
          <a:p>
            <a:pPr marL="346075">
              <a:lnSpc>
                <a:spcPct val="115000"/>
              </a:lnSpc>
            </a:pPr>
            <a:endParaRPr lang="en-IN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Archivo"/>
              <a:cs typeface="Archivo"/>
            </a:endParaRPr>
          </a:p>
          <a:p>
            <a:pPr marL="346075">
              <a:lnSpc>
                <a:spcPct val="115000"/>
              </a:lnSpc>
            </a:pPr>
            <a:endParaRPr lang="en-IN" sz="2800" b="1" dirty="0">
              <a:solidFill>
                <a:schemeClr val="accent6">
                  <a:lumMod val="75000"/>
                </a:schemeClr>
              </a:solidFill>
              <a:effectLst/>
              <a:latin typeface="Archivo"/>
              <a:ea typeface="Archivo"/>
              <a:cs typeface="Archiv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29B64-16C8-4619-8EF8-824907E59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739" y="1828472"/>
            <a:ext cx="4678018" cy="1600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DC1D4F-BCAC-476D-A68B-8BB9D5DEB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1828472"/>
            <a:ext cx="3719842" cy="10605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80BF91-2B82-440A-B75C-9B1D19061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8974"/>
            <a:ext cx="2570922" cy="14682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E55A10-4F1C-4515-98CC-B6EA43A4D9AF}"/>
              </a:ext>
            </a:extLst>
          </p:cNvPr>
          <p:cNvSpPr txBox="1"/>
          <p:nvPr/>
        </p:nvSpPr>
        <p:spPr>
          <a:xfrm>
            <a:off x="-185530" y="4357265"/>
            <a:ext cx="12377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Count the number of orders placed in 2017</a:t>
            </a:r>
          </a:p>
          <a:p>
            <a:pPr algn="ctr"/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SQL QUERY                                                                                                                  PYTHON CODE</a:t>
            </a:r>
            <a:endParaRPr lang="en-IN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A0E71C-3C5B-4254-95F9-F92E081566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8230"/>
            <a:ext cx="3057952" cy="1044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42D7BA-FC7F-4FF5-8B48-2BA91039BF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53" y="6062331"/>
            <a:ext cx="1276528" cy="8593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A20EF5-E665-442D-BDE3-1E903BCF47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517" y="5147963"/>
            <a:ext cx="6687483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91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77520-8607-434C-9B5B-AAB49F98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14" y="106019"/>
            <a:ext cx="10364451" cy="914400"/>
          </a:xfrm>
        </p:spPr>
        <p:txBody>
          <a:bodyPr anchor="b">
            <a:normAutofit/>
          </a:bodyPr>
          <a:lstStyle/>
          <a:p>
            <a:pPr algn="l"/>
            <a:r>
              <a:rPr lang="en-IN" sz="20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Find the total sales per category</a:t>
            </a:r>
            <a:br>
              <a:rPr lang="en-IN" sz="20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IN" sz="2000" dirty="0" err="1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sQL</a:t>
            </a:r>
            <a:r>
              <a:rPr lang="en-IN" sz="20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query                                                                     python code</a:t>
            </a:r>
            <a:br>
              <a:rPr lang="en-IN" sz="20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IN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EA685-5397-4CDF-88BF-029980299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1151"/>
            <a:ext cx="4220164" cy="12191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FB7CF2-CFE9-48C5-9110-C6125A1CF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478" y="658043"/>
            <a:ext cx="6634939" cy="2770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D9B0C1-5D0D-4DC4-8848-5C183FF1C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" y="2120349"/>
            <a:ext cx="4201483" cy="12191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929E71-C51D-4361-93DD-BB7946EA4CB1}"/>
              </a:ext>
            </a:extLst>
          </p:cNvPr>
          <p:cNvSpPr txBox="1"/>
          <p:nvPr/>
        </p:nvSpPr>
        <p:spPr>
          <a:xfrm>
            <a:off x="18681" y="3518454"/>
            <a:ext cx="11603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2626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  <a:r>
              <a:rPr lang="en-IN" sz="20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CALCULATE THE PERCENTAGE OF ORDERS THAT WERE PAID IN INSTALLMENTS</a:t>
            </a:r>
            <a:endParaRPr lang="en-IN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024B8-C144-4E27-8A43-14A0D5CA4A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" y="3935351"/>
            <a:ext cx="4201483" cy="13813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9E0D0E-7184-4B17-BF88-0A0657708E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0" y="5404134"/>
            <a:ext cx="2591997" cy="8668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836634-1FA6-463F-95A1-354D22A9F8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477" y="4008018"/>
            <a:ext cx="6634939" cy="216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4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6DCCF2-30A6-4EAD-96ED-1F2C22363181}"/>
              </a:ext>
            </a:extLst>
          </p:cNvPr>
          <p:cNvSpPr txBox="1"/>
          <p:nvPr/>
        </p:nvSpPr>
        <p:spPr>
          <a:xfrm>
            <a:off x="0" y="186395"/>
            <a:ext cx="120064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COUNT THE NUMBER OF CUSTOMERS FROM EACH STATE</a:t>
            </a:r>
          </a:p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SQL QUERY                                                                                                                                PYTHON CODE</a:t>
            </a:r>
            <a:endParaRPr lang="en-IN" b="1" dirty="0">
              <a:solidFill>
                <a:schemeClr val="bg2">
                  <a:lumMod val="7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15DB8-684F-44BF-A7B0-D6E090D54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2" y="1455578"/>
            <a:ext cx="3905795" cy="3305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F1774D-FF3B-4B1C-A254-F1A3619EB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2" y="4962260"/>
            <a:ext cx="3905795" cy="1895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570752-103F-4A86-9A17-537541C50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203" y="1455578"/>
            <a:ext cx="4991797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1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2B05-3E19-423F-B1D2-395DF4A2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534422"/>
          </a:xfrm>
        </p:spPr>
        <p:txBody>
          <a:bodyPr>
            <a:normAutofit fontScale="90000"/>
          </a:bodyPr>
          <a:lstStyle/>
          <a:p>
            <a:r>
              <a:rPr lang="en-IN" sz="2700" b="1" cap="none" dirty="0">
                <a:solidFill>
                  <a:schemeClr val="bg2">
                    <a:lumMod val="75000"/>
                  </a:schemeClr>
                </a:solidFill>
                <a:effectLst/>
                <a:latin typeface="Archivo"/>
                <a:ea typeface="Archivo"/>
                <a:cs typeface="Archivo"/>
              </a:rPr>
              <a:t>INTERMEDIATE PROBLEMS</a:t>
            </a:r>
            <a:br>
              <a:rPr lang="en-IN" sz="1800" b="1" cap="none" dirty="0">
                <a:solidFill>
                  <a:srgbClr val="FF7F50"/>
                </a:solidFill>
                <a:effectLst/>
                <a:latin typeface="Archivo"/>
                <a:ea typeface="Archivo"/>
                <a:cs typeface="Archivo"/>
              </a:rPr>
            </a:br>
            <a:r>
              <a:rPr lang="en-IN" sz="1600" b="1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Objective: Dive deeper into sales and order trends</a:t>
            </a:r>
            <a:br>
              <a:rPr lang="en-IN" sz="1600" b="1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IN" sz="1800" b="1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Find the average number of products per order, grouped by customer city</a:t>
            </a:r>
            <a:br>
              <a:rPr lang="en-IN" sz="1800" b="1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b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br>
              <a:rPr lang="en-IN" sz="1600" b="1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IN" sz="1600" b="1" cap="none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FB3199-EB2B-43C3-9E33-DC41DECE1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9042"/>
            <a:ext cx="5420481" cy="2295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4CF7FC-4DC7-4CCC-B44B-E04F298ED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75724"/>
            <a:ext cx="5420481" cy="2095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EC7CB4-549E-47D3-89D3-62BECD992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854233"/>
            <a:ext cx="6096000" cy="367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3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C2EA-489A-4BC9-B027-692E5626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422318"/>
          </a:xfrm>
        </p:spPr>
        <p:txBody>
          <a:bodyPr>
            <a:normAutofit/>
          </a:bodyPr>
          <a:lstStyle/>
          <a:p>
            <a:r>
              <a:rPr lang="en-IN" sz="1800" b="1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Calculate the percentage of total revenue contributed by each product category. </a:t>
            </a:r>
            <a:br>
              <a:rPr lang="en-IN" sz="1800" b="1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7834467-2FF4-46FA-A5DD-EA18E6610C83}"/>
              </a:ext>
            </a:extLst>
          </p:cNvPr>
          <p:cNvSpPr txBox="1">
            <a:spLocks/>
          </p:cNvSpPr>
          <p:nvPr/>
        </p:nvSpPr>
        <p:spPr>
          <a:xfrm>
            <a:off x="1298728" y="2523418"/>
            <a:ext cx="4873474" cy="3589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6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0380C6-70D6-47F2-9C80-9D75D4200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57" y="1346778"/>
            <a:ext cx="3277057" cy="2600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851DB0-B6E4-4689-BCCF-1F90B3794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9" y="4208866"/>
            <a:ext cx="3368531" cy="23112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A94F67-EF28-433C-A5CB-3CB846C7A1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311" y="1448180"/>
            <a:ext cx="4877481" cy="360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75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E41F-467A-4680-967A-DF0F0FA6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99466"/>
          </a:xfrm>
        </p:spPr>
        <p:txBody>
          <a:bodyPr/>
          <a:lstStyle/>
          <a:p>
            <a:r>
              <a:rPr lang="en-IN" sz="1800" b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Identify the correlation between product price and the number of times a product has been purchased</a:t>
            </a:r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459C7-E733-4896-9DE9-BF5852B2D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10" y="1338470"/>
            <a:ext cx="3878951" cy="20275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688F81-EFD9-45CB-8EE5-81080C5A1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3403"/>
            <a:ext cx="4001058" cy="2502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CD3908-A323-423F-86B7-F148B4F466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020" y="1686910"/>
            <a:ext cx="7316221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8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EF621-56F8-425D-82F3-F686FDC9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800" dirty="0">
                <a:solidFill>
                  <a:srgbClr val="2626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  <a:r>
              <a:rPr lang="en-IN" sz="1800" b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Calculate the total revenue generated by each seller, and rank them by revenue.</a:t>
            </a:r>
            <a:br>
              <a:rPr lang="en-IN" sz="1800" b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6A2F8-0ABB-44EC-B073-3379618FF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7683"/>
            <a:ext cx="4734586" cy="16913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842165-443A-424C-BD45-6D1D130C0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3929"/>
            <a:ext cx="4086795" cy="2591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F3CC27-2992-4774-9481-1CCBE2709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390" y="1715107"/>
            <a:ext cx="6211167" cy="359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0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E69D-B7D9-4BB7-830F-AD497C30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IN" sz="1800" b="1" dirty="0">
                <a:solidFill>
                  <a:schemeClr val="tx2">
                    <a:lumMod val="50000"/>
                  </a:schemeClr>
                </a:solidFill>
                <a:effectLst/>
                <a:latin typeface="Archivo"/>
                <a:ea typeface="Archivo"/>
                <a:cs typeface="Archivo"/>
              </a:rPr>
              <a:t>ADVANCED </a:t>
            </a:r>
            <a:r>
              <a:rPr lang="en-IN" sz="18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Archivo"/>
                <a:cs typeface="Archivo"/>
              </a:rPr>
              <a:t>PROBLEMS</a:t>
            </a:r>
            <a:br>
              <a:rPr lang="en-IN" sz="18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Archivo"/>
                <a:cs typeface="Archivo"/>
              </a:rPr>
            </a:br>
            <a:r>
              <a:rPr lang="en-IN" sz="1800" b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Objective: Generate strategic and customer-centric insights</a:t>
            </a:r>
            <a:br>
              <a:rPr lang="en-IN" sz="1800" b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Calculate the moving average of order values for each customer over their order history</a:t>
            </a:r>
            <a:r>
              <a:rPr lang="en-IN" sz="1800" dirty="0">
                <a:solidFill>
                  <a:srgbClr val="2626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A8A83-D75D-4B4D-89F7-938CABF2E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2296"/>
            <a:ext cx="5777948" cy="1895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BCFD9F-4A0B-474C-BC80-FF780F7AE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5689905" cy="23298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F930A2-2FC0-44C7-AC21-BEF7BF5BD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496" y="1915266"/>
            <a:ext cx="6221984" cy="449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9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F299-B61F-477E-8EFE-47A7321D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0"/>
            <a:ext cx="10364451" cy="861391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Calculate the cumulative sales per month for each year</a:t>
            </a:r>
            <a:endParaRPr lang="en-IN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56B97F-FE6A-4EBF-BE02-A0615AEA1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3006"/>
            <a:ext cx="5592417" cy="30286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34DC9B-B475-408A-9697-9BF31167D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3413"/>
            <a:ext cx="5128591" cy="2380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E804E8-1F61-4AD7-9F1C-95BD37396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226" y="1283966"/>
            <a:ext cx="6241774" cy="399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8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FC724-4FA7-4EEA-8DE7-5C745DCA4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768625"/>
          </a:xfrm>
        </p:spPr>
        <p:txBody>
          <a:bodyPr/>
          <a:lstStyle/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visualisations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2A5DEC-24D7-4F67-BE49-7A26E5BEF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3110"/>
            <a:ext cx="5340626" cy="318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1032D55-F7BF-489C-BB9A-1691D6AA5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783" y="724729"/>
            <a:ext cx="5792650" cy="311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57F1A42-7CF4-44D9-915B-1FC19F240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96139"/>
            <a:ext cx="5406887" cy="296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E02ACC8-7176-44B0-99D1-6CAEAFD8E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783" y="3975652"/>
            <a:ext cx="5768629" cy="288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81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53AEF94-369C-4F57-A0BE-599EC6250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605670" cy="322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27FB22A-5E79-44AB-A9EB-7ECA90C21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39" y="0"/>
            <a:ext cx="5857461" cy="322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759A131-77D6-43A7-B5EB-7E3D25919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273287"/>
            <a:ext cx="5936974" cy="372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23777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765</TotalTime>
  <Words>200</Words>
  <Application>Microsoft Office PowerPoint</Application>
  <PresentationFormat>Widescreen</PresentationFormat>
  <Paragraphs>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Archivo</vt:lpstr>
      <vt:lpstr>Arial</vt:lpstr>
      <vt:lpstr>Tw Cen MT</vt:lpstr>
      <vt:lpstr>Droplet</vt:lpstr>
      <vt:lpstr>Navigating the Future of Online Shopping E-Commerce Data Analysis </vt:lpstr>
      <vt:lpstr>PowerPoint Presentation</vt:lpstr>
      <vt:lpstr>Find the total sales per category sQL query                                                                     python code </vt:lpstr>
      <vt:lpstr>PowerPoint Presentation</vt:lpstr>
      <vt:lpstr>INTERMEDIATE PROBLEMS Objective: Dive deeper into sales and order trends Find the average number of products per order, grouped by customer city   </vt:lpstr>
      <vt:lpstr>Calculate the percentage of total revenue contributed by each product category.  </vt:lpstr>
      <vt:lpstr>Identify the correlation between product price and the number of times a product has been purchased</vt:lpstr>
      <vt:lpstr>. Calculate the total revenue generated by each seller, and rank them by revenue. </vt:lpstr>
      <vt:lpstr>ADVANCED PROBLEMS Objective: Generate strategic and customer-centric insights . Calculate the moving average of order values for each customer over their order history. </vt:lpstr>
      <vt:lpstr>. Calculate the cumulative sales per month for each year</vt:lpstr>
      <vt:lpstr>visualisations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Navigating the Future of Online Shopping E-Commerce Data Analysis</dc:title>
  <dc:creator>priyanshu singh</dc:creator>
  <cp:lastModifiedBy>priyanshu singh</cp:lastModifiedBy>
  <cp:revision>19</cp:revision>
  <dcterms:created xsi:type="dcterms:W3CDTF">2026-02-19T16:00:04Z</dcterms:created>
  <dcterms:modified xsi:type="dcterms:W3CDTF">2026-02-20T04:45:44Z</dcterms:modified>
</cp:coreProperties>
</file>